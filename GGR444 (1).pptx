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Roboto Bold" charset="1" panose="02000000000000000000"/>
      <p:regular r:id="rId25"/>
    </p:embeddedFont>
    <p:embeddedFont>
      <p:font typeface="Open Sans" charset="1" panose="020B0606030504020204"/>
      <p:regular r:id="rId26"/>
    </p:embeddedFont>
    <p:embeddedFont>
      <p:font typeface="Roboto" charset="1" panose="02000000000000000000"/>
      <p:regular r:id="rId27"/>
    </p:embeddedFont>
    <p:embeddedFont>
      <p:font typeface="Open Sans Bold" charset="1" panose="020B0806030504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www.airqualityontario.com/history/index.php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1781" y="765767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5619" y="8743950"/>
            <a:ext cx="3086100" cy="30861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201900" y="-139509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333810" y="-1543050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86100" y="3599596"/>
            <a:ext cx="12115800" cy="203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Short-Term Air Pollution Patterns: </a:t>
            </a:r>
          </a:p>
          <a:p>
            <a:pPr algn="ctr">
              <a:lnSpc>
                <a:spcPts val="5459"/>
              </a:lnSpc>
            </a:pPr>
            <a:r>
              <a:rPr lang="en-US" sz="38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 GIS Study of PM₂.₅, O₃ and NO₂ Emissions in the</a:t>
            </a:r>
          </a:p>
          <a:p>
            <a:pPr algn="ctr">
              <a:lnSpc>
                <a:spcPts val="5459"/>
              </a:lnSpc>
            </a:pPr>
            <a:r>
              <a:rPr lang="en-US" sz="38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Greater Toronto and Hamilton Area, 2024​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6936188" y="1920463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2048664" y="4832351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24066" y="6247642"/>
            <a:ext cx="13323047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31404B"/>
                </a:solidFill>
                <a:latin typeface="Open Sans"/>
                <a:ea typeface="Open Sans"/>
                <a:cs typeface="Open Sans"/>
                <a:sym typeface="Open Sans"/>
              </a:rPr>
              <a:t> Arunima Dey, Dema Ismail, Elina Jaggi &amp; Eaint Paing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41171" y="-3570545"/>
            <a:ext cx="19729171" cy="19729171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5123" y="-808742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8437" y="2701924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489691" y="2358214"/>
            <a:ext cx="13541224" cy="2336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Fixed air quality monitoring stations do not fully capture spatial variation in pollution across the Greater Toronto and Hamilton Area, particularly in areas outside station buffer zones.</a:t>
            </a:r>
          </a:p>
          <a:p>
            <a:pPr algn="l">
              <a:lnSpc>
                <a:spcPts val="40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159570" y="612076"/>
            <a:ext cx="12982331" cy="1130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 &amp; Scope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35847" y="4656454"/>
            <a:ext cx="2369344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stations mapped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70641" y="4824806"/>
            <a:ext cx="10702900" cy="3256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65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Scope:</a:t>
            </a:r>
          </a:p>
          <a:p>
            <a:pPr algn="ctr" marL="572313" indent="-286156" lvl="1">
              <a:lnSpc>
                <a:spcPts val="3711"/>
              </a:lnSpc>
              <a:spcBef>
                <a:spcPct val="0"/>
              </a:spcBef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ocus on pollution variation beyond monitoring station coverage</a:t>
            </a:r>
          </a:p>
          <a:p>
            <a:pPr algn="ctr" marL="572313" indent="-286156" lvl="1">
              <a:lnSpc>
                <a:spcPts val="3711"/>
              </a:lnSpc>
              <a:spcBef>
                <a:spcPct val="0"/>
              </a:spcBef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Hourly PM₂.₅, NO₂, and O₃ data (Air Quality Ontario, 2024)</a:t>
            </a:r>
          </a:p>
          <a:p>
            <a:pPr algn="ctr" marL="572313" indent="-286156" lvl="1">
              <a:lnSpc>
                <a:spcPts val="3711"/>
              </a:lnSpc>
              <a:spcBef>
                <a:spcPct val="0"/>
              </a:spcBef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One-week GPS trajectories collected by the team</a:t>
            </a:r>
          </a:p>
          <a:p>
            <a:pPr algn="ctr" marL="572313" indent="-286156" lvl="1">
              <a:lnSpc>
                <a:spcPts val="3711"/>
              </a:lnSpc>
              <a:spcBef>
                <a:spcPct val="0"/>
              </a:spcBef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Spatial interpolation used to estimate pollution surfaces</a:t>
            </a:r>
          </a:p>
          <a:p>
            <a:pPr algn="ctr" marL="572313" indent="-286156" lvl="1">
              <a:lnSpc>
                <a:spcPts val="3711"/>
              </a:lnSpc>
              <a:spcBef>
                <a:spcPct val="0"/>
              </a:spcBef>
              <a:buFont typeface="Arial"/>
              <a:buChar char="•"/>
            </a:pPr>
            <a:r>
              <a:rPr lang="en-US" sz="26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Trajectory data used to confirm interpolated patterns</a:t>
            </a:r>
          </a:p>
          <a:p>
            <a:pPr algn="ctr">
              <a:lnSpc>
                <a:spcPts val="37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598799" y="423213"/>
            <a:ext cx="6953970" cy="9863787"/>
          </a:xfrm>
          <a:custGeom>
            <a:avLst/>
            <a:gdLst/>
            <a:ahLst/>
            <a:cxnLst/>
            <a:rect r="r" b="b" t="t" l="l"/>
            <a:pathLst>
              <a:path h="9863787" w="6953970">
                <a:moveTo>
                  <a:pt x="0" y="0"/>
                </a:moveTo>
                <a:lnTo>
                  <a:pt x="6953970" y="0"/>
                </a:lnTo>
                <a:lnTo>
                  <a:pt x="6953970" y="9863787"/>
                </a:lnTo>
                <a:lnTo>
                  <a:pt x="0" y="986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2408" y="67806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7666" y="6780637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7775" y="428784"/>
            <a:ext cx="16400837" cy="9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Data Used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23" y="4191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3" id="13"/>
          <p:cNvSpPr txBox="true"/>
          <p:nvPr/>
        </p:nvSpPr>
        <p:spPr>
          <a:xfrm rot="0">
            <a:off x="3935189" y="1692851"/>
            <a:ext cx="11945761" cy="6939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Mobile Trajectory Data (Survey123 / GeoTracker)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GPS-based mobility data used to understand movement patterns and link human mobility with pollution exposure.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 Air Quality Ontario (2024 hourly emissions)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Hourly pollutant measurements (PM₂.₅, NO₂, O₃) collected from monitoring stations across the GTA.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2021 Census Tract Data from Region of Peel, Durham, Open data Portal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2408" y="67806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7666" y="6780637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23" y="4191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 flipV="true">
            <a:off x="3381176" y="9897304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461118" y="536437"/>
            <a:ext cx="9617820" cy="9262579"/>
          </a:xfrm>
          <a:custGeom>
            <a:avLst/>
            <a:gdLst/>
            <a:ahLst/>
            <a:cxnLst/>
            <a:rect r="r" b="b" t="t" l="l"/>
            <a:pathLst>
              <a:path h="9262579" w="9617820">
                <a:moveTo>
                  <a:pt x="0" y="0"/>
                </a:moveTo>
                <a:lnTo>
                  <a:pt x="9617821" y="0"/>
                </a:lnTo>
                <a:lnTo>
                  <a:pt x="9617821" y="9262579"/>
                </a:lnTo>
                <a:lnTo>
                  <a:pt x="0" y="9262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2408" y="67806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7666" y="6780637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7775" y="438309"/>
            <a:ext cx="16400837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23" y="4191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3381176" y="9897304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726669" y="1599724"/>
            <a:ext cx="3205518" cy="1107361"/>
          </a:xfrm>
          <a:custGeom>
            <a:avLst/>
            <a:gdLst/>
            <a:ahLst/>
            <a:cxnLst/>
            <a:rect r="r" b="b" t="t" l="l"/>
            <a:pathLst>
              <a:path h="1107361" w="3205518">
                <a:moveTo>
                  <a:pt x="0" y="0"/>
                </a:moveTo>
                <a:lnTo>
                  <a:pt x="3205518" y="0"/>
                </a:lnTo>
                <a:lnTo>
                  <a:pt x="3205518" y="1107361"/>
                </a:lnTo>
                <a:lnTo>
                  <a:pt x="0" y="11073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97745" y="1796296"/>
            <a:ext cx="12510585" cy="7603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37"/>
              </a:lnSpc>
            </a:pP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2. Data Processing 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F</a:t>
            </a: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ile Conversion</a:t>
            </a:r>
          </a:p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GPS data were converted from NMEA to KML, then loaded into GIS as XY event layers.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</a:t>
            </a:r>
          </a:p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Rem</a:t>
            </a: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oved missing and duplicate records.</a:t>
            </a:r>
          </a:p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Standardized timestamp formats and pollutant fields.</a:t>
            </a:r>
          </a:p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Filtered trajectory points outside the study area.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</a:t>
            </a: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oordinate System Alignment</a:t>
            </a:r>
          </a:p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All </a:t>
            </a: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datasets were projected to WGS 84 to ensure consistency for spatial analyses.</a:t>
            </a:r>
          </a:p>
          <a:p>
            <a:pPr algn="just">
              <a:lnSpc>
                <a:spcPts val="3537"/>
              </a:lnSpc>
            </a:pPr>
          </a:p>
          <a:p>
            <a:pPr algn="just">
              <a:lnSpc>
                <a:spcPts val="3537"/>
              </a:lnSpc>
            </a:pPr>
            <a:r>
              <a:rPr lang="en-US" sz="25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Trajectory Construction</a:t>
            </a:r>
          </a:p>
          <a:p>
            <a:pPr algn="just">
              <a:lnSpc>
                <a:spcPts val="3537"/>
              </a:lnSpc>
            </a:pPr>
            <a:r>
              <a:rPr lang="en-US" sz="25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Converted GPS points into polylines using the Points to Line tool to represent continuous movement paths.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2408" y="67806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7666" y="6780637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7775" y="428784"/>
            <a:ext cx="16400837" cy="9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23" y="4191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3381176" y="9897304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622409" y="1609882"/>
            <a:ext cx="2447492" cy="845497"/>
          </a:xfrm>
          <a:custGeom>
            <a:avLst/>
            <a:gdLst/>
            <a:ahLst/>
            <a:cxnLst/>
            <a:rect r="r" b="b" t="t" l="l"/>
            <a:pathLst>
              <a:path h="845497" w="2447492">
                <a:moveTo>
                  <a:pt x="0" y="0"/>
                </a:moveTo>
                <a:lnTo>
                  <a:pt x="2447492" y="0"/>
                </a:lnTo>
                <a:lnTo>
                  <a:pt x="2447492" y="845497"/>
                </a:lnTo>
                <a:lnTo>
                  <a:pt x="0" y="84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85830" y="1753808"/>
            <a:ext cx="13012983" cy="792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7"/>
              </a:lnSpc>
            </a:pPr>
            <a:r>
              <a:rPr lang="en-US" sz="26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3. Analysis</a:t>
            </a:r>
          </a:p>
          <a:p>
            <a:pPr algn="just">
              <a:lnSpc>
                <a:spcPts val="3677"/>
              </a:lnSpc>
            </a:pPr>
          </a:p>
          <a:p>
            <a:pPr algn="just">
              <a:lnSpc>
                <a:spcPts val="3677"/>
              </a:lnSpc>
            </a:pPr>
          </a:p>
          <a:p>
            <a:pPr algn="just">
              <a:lnSpc>
                <a:spcPts val="3677"/>
              </a:lnSpc>
            </a:pPr>
            <a:r>
              <a:rPr lang="en-US" sz="26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1. IDW Interpolation</a:t>
            </a:r>
          </a:p>
          <a:p>
            <a:pPr algn="just">
              <a:lnSpc>
                <a:spcPts val="3677"/>
              </a:lnSpc>
            </a:pPr>
            <a:r>
              <a:rPr lang="en-US" sz="26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Applied Inverse Distance Weighting (IDW) to station-based pollution data to create continuous pollutant surfaces (PM₂.₅, NO₂, O₃).These surfaces estimate pollution levels in areas without monitoring stations.</a:t>
            </a:r>
          </a:p>
          <a:p>
            <a:pPr algn="just">
              <a:lnSpc>
                <a:spcPts val="3677"/>
              </a:lnSpc>
            </a:pPr>
          </a:p>
          <a:p>
            <a:pPr algn="just">
              <a:lnSpc>
                <a:spcPts val="3677"/>
              </a:lnSpc>
            </a:pPr>
            <a:r>
              <a:rPr lang="en-US" sz="26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2. Zonal Statistics</a:t>
            </a:r>
          </a:p>
          <a:p>
            <a:pPr algn="just">
              <a:lnSpc>
                <a:spcPts val="3677"/>
              </a:lnSpc>
            </a:pPr>
            <a:r>
              <a:rPr lang="en-US" sz="26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Computed the mean pollutant concentration within spatial units such as census tracts, neighborhoods, and municipal boundaries. This step reveals how pollution varies across different socio-spatial regions and identifies which districts experience higher exposure.</a:t>
            </a:r>
          </a:p>
          <a:p>
            <a:pPr algn="just">
              <a:lnSpc>
                <a:spcPts val="3677"/>
              </a:lnSpc>
            </a:pPr>
          </a:p>
          <a:p>
            <a:pPr algn="just">
              <a:lnSpc>
                <a:spcPts val="3677"/>
              </a:lnSpc>
            </a:pPr>
            <a:r>
              <a:rPr lang="en-US" sz="26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3. Kernel Density Estimation (KDE)</a:t>
            </a:r>
          </a:p>
          <a:p>
            <a:pPr algn="just">
              <a:lnSpc>
                <a:spcPts val="3677"/>
              </a:lnSpc>
            </a:pPr>
            <a:r>
              <a:rPr lang="en-US" sz="26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Used KDE to generate pollution hotspot heatmaps.</a:t>
            </a:r>
          </a:p>
          <a:p>
            <a:pPr algn="just">
              <a:lnSpc>
                <a:spcPts val="3677"/>
              </a:lnSpc>
            </a:pPr>
            <a:r>
              <a:rPr lang="en-US" sz="26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KDE highlights where pollutants tend to cluster and where accumulation is highest across the GTA.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2408" y="678063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717666" y="6780637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47775" y="428784"/>
            <a:ext cx="16400837" cy="94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23" y="4191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3381176" y="9897304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3622409" y="1609882"/>
            <a:ext cx="2447492" cy="845497"/>
          </a:xfrm>
          <a:custGeom>
            <a:avLst/>
            <a:gdLst/>
            <a:ahLst/>
            <a:cxnLst/>
            <a:rect r="r" b="b" t="t" l="l"/>
            <a:pathLst>
              <a:path h="845497" w="2447492">
                <a:moveTo>
                  <a:pt x="0" y="0"/>
                </a:moveTo>
                <a:lnTo>
                  <a:pt x="2447492" y="0"/>
                </a:lnTo>
                <a:lnTo>
                  <a:pt x="2447492" y="845497"/>
                </a:lnTo>
                <a:lnTo>
                  <a:pt x="0" y="84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85830" y="1744283"/>
            <a:ext cx="13012983" cy="79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4. Results</a:t>
            </a:r>
          </a:p>
          <a:p>
            <a:pPr algn="just">
              <a:lnSpc>
                <a:spcPts val="3957"/>
              </a:lnSpc>
            </a:pP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Interpolated Pollution Maps</a:t>
            </a:r>
          </a:p>
          <a:p>
            <a:pPr algn="just">
              <a:lnSpc>
                <a:spcPts val="3957"/>
              </a:lnSpc>
            </a:pP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Smooth, continuous surfaces for PM₂.₅, NO₂, and O₃ showing estimated pollution levels across the GTA.</a:t>
            </a:r>
          </a:p>
          <a:p>
            <a:pPr algn="just">
              <a:lnSpc>
                <a:spcPts val="3957"/>
              </a:lnSpc>
            </a:pP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Zonal Statistics Summary/Maps</a:t>
            </a:r>
          </a:p>
          <a:p>
            <a:pPr algn="just">
              <a:lnSpc>
                <a:spcPts val="3957"/>
              </a:lnSpc>
            </a:pP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Tables and maps showing average pollutant concentrations for each zone (census tract or region), useful for identifying high-exposure neighborhoods.</a:t>
            </a:r>
          </a:p>
          <a:p>
            <a:pPr algn="just">
              <a:lnSpc>
                <a:spcPts val="3957"/>
              </a:lnSpc>
            </a:pPr>
          </a:p>
          <a:p>
            <a:pPr algn="just">
              <a:lnSpc>
                <a:spcPts val="3957"/>
              </a:lnSpc>
            </a:pPr>
            <a:r>
              <a:rPr lang="en-US" sz="2826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Kernel Density Heatmaps</a:t>
            </a:r>
          </a:p>
          <a:p>
            <a:pPr algn="just">
              <a:lnSpc>
                <a:spcPts val="3957"/>
              </a:lnSpc>
            </a:pPr>
          </a:p>
          <a:p>
            <a:pPr algn="just">
              <a:lnSpc>
                <a:spcPts val="3957"/>
              </a:lnSpc>
            </a:pPr>
            <a:r>
              <a:rPr lang="en-US" sz="2826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Hotspot maps showing pollutant accumulation areas and spatial patterns of high pollution intensity.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254587" y="1395443"/>
            <a:ext cx="16400837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Analysis &amp; Preliminary Results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2" id="12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-1941858">
            <a:off x="16662685" y="478202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30828" y="3017449"/>
            <a:ext cx="11945761" cy="396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The map on the next slide visualizes the full spatial extent of all group members’ trajectory data over one week.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Each line represents the actual GPS tracks recorded from daily routines, such as commuting, going to campus, work, errands, and weekend travel.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The purpose of this map is to show where our personal exposure to air pollutants occurs as we move through the GTA region.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94532" y="0"/>
            <a:ext cx="7970357" cy="10287000"/>
          </a:xfrm>
          <a:custGeom>
            <a:avLst/>
            <a:gdLst/>
            <a:ahLst/>
            <a:cxnLst/>
            <a:rect r="r" b="b" t="t" l="l"/>
            <a:pathLst>
              <a:path h="10287000" w="7970357">
                <a:moveTo>
                  <a:pt x="0" y="0"/>
                </a:moveTo>
                <a:lnTo>
                  <a:pt x="7970356" y="0"/>
                </a:lnTo>
                <a:lnTo>
                  <a:pt x="79703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652459" y="617051"/>
            <a:ext cx="8006860" cy="9457043"/>
          </a:xfrm>
          <a:custGeom>
            <a:avLst/>
            <a:gdLst/>
            <a:ahLst/>
            <a:cxnLst/>
            <a:rect r="r" b="b" t="t" l="l"/>
            <a:pathLst>
              <a:path h="9457043" w="8006860">
                <a:moveTo>
                  <a:pt x="0" y="0"/>
                </a:moveTo>
                <a:lnTo>
                  <a:pt x="8006861" y="0"/>
                </a:lnTo>
                <a:lnTo>
                  <a:pt x="8006861" y="9457043"/>
                </a:lnTo>
                <a:lnTo>
                  <a:pt x="0" y="9457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359726" y="477206"/>
            <a:ext cx="8592326" cy="9332588"/>
          </a:xfrm>
          <a:custGeom>
            <a:avLst/>
            <a:gdLst/>
            <a:ahLst/>
            <a:cxnLst/>
            <a:rect r="r" b="b" t="t" l="l"/>
            <a:pathLst>
              <a:path h="9332588" w="8592326">
                <a:moveTo>
                  <a:pt x="0" y="0"/>
                </a:moveTo>
                <a:lnTo>
                  <a:pt x="8592327" y="0"/>
                </a:lnTo>
                <a:lnTo>
                  <a:pt x="8592327" y="9332588"/>
                </a:lnTo>
                <a:lnTo>
                  <a:pt x="0" y="9332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45961" y="886826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10509" y="711834"/>
            <a:ext cx="4068548" cy="7954239"/>
          </a:xfrm>
          <a:custGeom>
            <a:avLst/>
            <a:gdLst/>
            <a:ahLst/>
            <a:cxnLst/>
            <a:rect r="r" b="b" t="t" l="l"/>
            <a:pathLst>
              <a:path h="7954239" w="4068548">
                <a:moveTo>
                  <a:pt x="0" y="0"/>
                </a:moveTo>
                <a:lnTo>
                  <a:pt x="4068548" y="0"/>
                </a:lnTo>
                <a:lnTo>
                  <a:pt x="4068548" y="7954240"/>
                </a:lnTo>
                <a:lnTo>
                  <a:pt x="0" y="79542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136335" y="1745997"/>
            <a:ext cx="11266505" cy="6268689"/>
          </a:xfrm>
          <a:custGeom>
            <a:avLst/>
            <a:gdLst/>
            <a:ahLst/>
            <a:cxnLst/>
            <a:rect r="r" b="b" t="t" l="l"/>
            <a:pathLst>
              <a:path h="6268689" w="11266505">
                <a:moveTo>
                  <a:pt x="0" y="0"/>
                </a:moveTo>
                <a:lnTo>
                  <a:pt x="11266506" y="0"/>
                </a:lnTo>
                <a:lnTo>
                  <a:pt x="11266506" y="6268689"/>
                </a:lnTo>
                <a:lnTo>
                  <a:pt x="0" y="62686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69871" y="-3320321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5123" y="-808742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8437" y="2701924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89945" y="3785448"/>
            <a:ext cx="6108893" cy="223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Significant 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94714" y="2625724"/>
            <a:ext cx="8584847" cy="495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High exposure zones likely overlap with dense neighborhoods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Pollution varies by time of day and emission source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Unev</a:t>
            </a: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en station distribution creates data gaps</a:t>
            </a:r>
          </a:p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Mobility data highlights personal exposure differences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7394714" y="3230458"/>
            <a:ext cx="0" cy="36370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69871" y="-3320321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5123" y="-808742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8437" y="2701924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578588" y="765616"/>
            <a:ext cx="7787456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Limitations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869117" y="2701924"/>
            <a:ext cx="919480" cy="91948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31404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69117" y="2774315"/>
            <a:ext cx="91948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869117" y="4221479"/>
            <a:ext cx="919480" cy="9194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sq">
              <a:solidFill>
                <a:srgbClr val="31404B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869117" y="4293870"/>
            <a:ext cx="91948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63300" y="2873374"/>
            <a:ext cx="11303430" cy="50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Data Privacy (need to geomask)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63300" y="4147820"/>
            <a:ext cx="11303430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Using a generalized GTA boundary limits neighborhood-level analysis and illustrates the Modifiable Areal Unit Problem (MAUP).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259627" y="1692209"/>
            <a:ext cx="6736951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599"/>
              </a:lnSpc>
            </a:pPr>
            <a:r>
              <a:rPr lang="en-US" sz="9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Conclusion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234798" y="3559442"/>
            <a:ext cx="6761779" cy="4462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GIS helps identify pollution hotspots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Populatio overlap highlights exposure inequity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Mobility adds personal exposure insight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Analysis supports better health and planning decisions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40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69871" y="-3320321"/>
            <a:ext cx="19729171" cy="16927642"/>
            <a:chOff x="0" y="0"/>
            <a:chExt cx="1014692" cy="870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4692" cy="870606"/>
            </a:xfrm>
            <a:custGeom>
              <a:avLst/>
              <a:gdLst/>
              <a:ahLst/>
              <a:cxnLst/>
              <a:rect r="r" b="b" t="t" l="l"/>
              <a:pathLst>
                <a:path h="870606" w="1014692">
                  <a:moveTo>
                    <a:pt x="507346" y="0"/>
                  </a:moveTo>
                  <a:cubicBezTo>
                    <a:pt x="227147" y="0"/>
                    <a:pt x="0" y="194892"/>
                    <a:pt x="0" y="435303"/>
                  </a:cubicBezTo>
                  <a:cubicBezTo>
                    <a:pt x="0" y="675715"/>
                    <a:pt x="227147" y="870606"/>
                    <a:pt x="507346" y="870606"/>
                  </a:cubicBezTo>
                  <a:cubicBezTo>
                    <a:pt x="787546" y="870606"/>
                    <a:pt x="1014692" y="675715"/>
                    <a:pt x="1014692" y="435303"/>
                  </a:cubicBezTo>
                  <a:cubicBezTo>
                    <a:pt x="1014692" y="194892"/>
                    <a:pt x="787546" y="0"/>
                    <a:pt x="50734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5127" y="43519"/>
              <a:ext cx="824437" cy="745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028700" y="-28661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35123" y="-808742"/>
            <a:ext cx="3504283" cy="3510666"/>
          </a:xfrm>
          <a:custGeom>
            <a:avLst/>
            <a:gdLst/>
            <a:ahLst/>
            <a:cxnLst/>
            <a:rect r="r" b="b" t="t" l="l"/>
            <a:pathLst>
              <a:path h="3510666" w="3504283">
                <a:moveTo>
                  <a:pt x="0" y="0"/>
                </a:moveTo>
                <a:lnTo>
                  <a:pt x="3504283" y="0"/>
                </a:lnTo>
                <a:lnTo>
                  <a:pt x="3504283" y="3510666"/>
                </a:lnTo>
                <a:lnTo>
                  <a:pt x="0" y="3510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8437" y="2701924"/>
            <a:ext cx="1216873" cy="12168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50272" y="847725"/>
            <a:ext cx="7787456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Reference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63300" y="3234161"/>
            <a:ext cx="11303430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Air Quality Ontario. (n.d.). Historical air quality data. Ontario Ministry of the Environment, Conservation and Parks. Retrieved November 25, 2025, from </a:t>
            </a:r>
            <a:r>
              <a:rPr lang="en-US" sz="2799" u="sng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  <a:hlinkClick r:id="rId6" tooltip="https://www.airqualityontario.com/history/index.php"/>
              </a:rPr>
              <a:t>https://www.airqualityontario.com/history/index.php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63300" y="5563341"/>
            <a:ext cx="11303430" cy="149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31404B"/>
                </a:solidFill>
                <a:latin typeface="Roboto"/>
                <a:ea typeface="Roboto"/>
                <a:cs typeface="Roboto"/>
                <a:sym typeface="Roboto"/>
              </a:rPr>
              <a:t>Fotheringham, A. S., &amp; Wong, D. W. S. (1991). The modifiable areal unit problem in multivariate statistical analysis. Environment and Planning A, 23(7), 1025–1044.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68808" y="952500"/>
            <a:ext cx="5167982" cy="695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Contributions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31397" y="3696766"/>
            <a:ext cx="13411186" cy="1419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EQUAL CONTRIBUTION AMONG ALL MEMBERS</a:t>
            </a:r>
          </a:p>
          <a:p>
            <a:pPr algn="ctr">
              <a:lnSpc>
                <a:spcPts val="57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8700" y="76211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17410" y="8431464"/>
            <a:ext cx="2489663" cy="2494198"/>
          </a:xfrm>
          <a:custGeom>
            <a:avLst/>
            <a:gdLst/>
            <a:ahLst/>
            <a:cxnLst/>
            <a:rect r="r" b="b" t="t" l="l"/>
            <a:pathLst>
              <a:path h="2494198" w="2489663">
                <a:moveTo>
                  <a:pt x="0" y="0"/>
                </a:moveTo>
                <a:lnTo>
                  <a:pt x="2489662" y="0"/>
                </a:lnTo>
                <a:lnTo>
                  <a:pt x="2489662" y="2494198"/>
                </a:lnTo>
                <a:lnTo>
                  <a:pt x="0" y="24941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13955" y="9678563"/>
            <a:ext cx="1216873" cy="121687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645401" y="3270888"/>
            <a:ext cx="8997199" cy="241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0"/>
              </a:lnSpc>
            </a:pPr>
            <a:r>
              <a:rPr lang="en-US" sz="14000" b="true">
                <a:solidFill>
                  <a:srgbClr val="31404B"/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80951" y="-1693459"/>
            <a:ext cx="4071451" cy="4078867"/>
          </a:xfrm>
          <a:custGeom>
            <a:avLst/>
            <a:gdLst/>
            <a:ahLst/>
            <a:cxnLst/>
            <a:rect r="r" b="b" t="t" l="l"/>
            <a:pathLst>
              <a:path h="4078867" w="4071451">
                <a:moveTo>
                  <a:pt x="0" y="0"/>
                </a:moveTo>
                <a:lnTo>
                  <a:pt x="4071451" y="0"/>
                </a:lnTo>
                <a:lnTo>
                  <a:pt x="4071451" y="4078868"/>
                </a:lnTo>
                <a:lnTo>
                  <a:pt x="0" y="40788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898813" y="-671888"/>
            <a:ext cx="2035726" cy="203572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1404B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2" id="12"/>
          <p:cNvSpPr/>
          <p:nvPr/>
        </p:nvSpPr>
        <p:spPr>
          <a:xfrm flipV="true">
            <a:off x="-160020" y="1028700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3" id="13"/>
          <p:cNvSpPr/>
          <p:nvPr/>
        </p:nvSpPr>
        <p:spPr>
          <a:xfrm flipV="true">
            <a:off x="3430852" y="9248775"/>
            <a:ext cx="1555333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DAG5wEDbCU0</dc:identifier>
  <dcterms:modified xsi:type="dcterms:W3CDTF">2011-08-01T06:04:30Z</dcterms:modified>
  <cp:revision>1</cp:revision>
  <dc:title>GGR444 </dc:title>
</cp:coreProperties>
</file>